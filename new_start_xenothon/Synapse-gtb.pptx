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Roboto" panose="020F0502020204030204" pitchFamily="2" charset="0"/>
      <p:regular r:id="rId11"/>
      <p:bold r:id="rId12"/>
      <p:italic r:id="rId13"/>
      <p:boldItalic r:id="rId14"/>
    </p:embeddedFont>
    <p:embeddedFont>
      <p:font typeface="VT323" panose="020B06040202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AD02C6-73F4-4E86-B738-824DFAA2CBF0}">
  <a:tblStyle styleId="{E3AD02C6-73F4-4E86-B738-824DFAA2CB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711434" y="7389269"/>
            <a:ext cx="1440883" cy="1440883"/>
          </a:xfrm>
          <a:custGeom>
            <a:avLst/>
            <a:gdLst/>
            <a:ahLst/>
            <a:cxnLst/>
            <a:rect l="l" t="t" r="r" b="b"/>
            <a:pathLst>
              <a:path w="1440883" h="1440883" extrusionOk="0">
                <a:moveTo>
                  <a:pt x="0" y="0"/>
                </a:moveTo>
                <a:lnTo>
                  <a:pt x="1440883" y="0"/>
                </a:lnTo>
                <a:lnTo>
                  <a:pt x="1440883" y="1440883"/>
                </a:lnTo>
                <a:lnTo>
                  <a:pt x="0" y="144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t="-1691" b="-1691"/>
            </a:stretch>
          </a:blip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1230474" y="4152582"/>
            <a:ext cx="135672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8" b="0" i="0" u="none" strike="noStrike" cap="none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TEAM NAME : SYNAPSE_GTB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230352" y="3400638"/>
            <a:ext cx="13567200" cy="55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6768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3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DOMAIN : Healthcare Track</a:t>
            </a:r>
            <a:endParaRPr sz="5300" dirty="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30350" y="5019607"/>
            <a:ext cx="13298700" cy="114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CATEGORY : AI/ML-powered Web Application</a:t>
            </a:r>
            <a:endParaRPr sz="5300" dirty="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230352" y="5863615"/>
            <a:ext cx="13567200" cy="114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8" b="0" i="0" u="none" strike="noStrike" cap="none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</a:t>
            </a:r>
            <a:r>
              <a:rPr lang="en-US" sz="5300" dirty="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ROJECT TITLE : Project Chronos</a:t>
            </a:r>
            <a:endParaRPr sz="5300" dirty="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14"/>
          <p:cNvSpPr txBox="1"/>
          <p:nvPr/>
        </p:nvSpPr>
        <p:spPr>
          <a:xfrm>
            <a:off x="137150" y="1762375"/>
            <a:ext cx="5117100" cy="83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User Pain Points</a:t>
            </a:r>
            <a:endParaRPr sz="26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Hospitals generate massive amounts of physiological data (vital signs, labs, diagnoses), but most monitoring systems only </a:t>
            </a: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clinicians after a critical threshold is crossed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Doctors often experience: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Alarm fatigue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from too many reactive alerts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Difficulty identifying </a:t>
            </a: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subtle deterioration patterns</a:t>
            </a:r>
            <a:endParaRPr sz="26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●"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Lack of </a:t>
            </a: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predictive insights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from continuous patient data</a:t>
            </a:r>
            <a:endParaRPr sz="2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As a result, patient deterioration such as </a:t>
            </a: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sepsis, shock, or cardiac arrest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is often detected </a:t>
            </a:r>
            <a:r>
              <a:rPr lang="en-US" sz="2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too late</a:t>
            </a:r>
            <a:r>
              <a:rPr lang="en-US" sz="2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reducing survival chances.</a:t>
            </a:r>
            <a:endParaRPr sz="26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28700" y="238851"/>
            <a:ext cx="107064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PROBLEM STATEMENT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438900" y="1762375"/>
            <a:ext cx="6462300" cy="7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Technical / Operational Challenges</a:t>
            </a:r>
            <a:endParaRPr sz="28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Current systems face several limitations:</a:t>
            </a:r>
            <a:endParaRPr sz="29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Reactive Monitoring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Traditional monitors trigger alerts only when vitals exceed predefined thresholds.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 Silos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Patient data is distributed across multiple hospital systems.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Limited Predictive Intelligence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Most hospital systems do not use machine learning to detect early risk patterns.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Cognitive Load on Clinicians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Physicians must manually interpret large volumes of patient data under time pressure.</a:t>
            </a:r>
            <a:endParaRPr sz="28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901200" y="1695025"/>
            <a:ext cx="6093000" cy="7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Why This Problem Matters Now</a:t>
            </a:r>
            <a:endParaRPr sz="30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Healthcare systems are becoming increasingly </a:t>
            </a:r>
            <a:r>
              <a:rPr lang="en-US" sz="30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data-rich but insight-poor</a:t>
            </a: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Recent trends driving urgency: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T323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Rising ICU and emergency department load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T323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Increasing clinician burnout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Availability of large clinical datasets like </a:t>
            </a:r>
            <a:r>
              <a:rPr lang="en-US" sz="30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</a:t>
            </a:r>
            <a:endParaRPr sz="30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Advances in </a:t>
            </a:r>
            <a:r>
              <a:rPr lang="en-US" sz="30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for healthcare</a:t>
            </a:r>
            <a:endParaRPr sz="30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AI can now detect </a:t>
            </a:r>
            <a:r>
              <a:rPr lang="en-US" sz="30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patterns invisible to human monitoring</a:t>
            </a:r>
            <a:r>
              <a:rPr lang="en-US" sz="30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enabling earlier intervention.</a:t>
            </a:r>
            <a:endParaRPr sz="30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cxnSp>
        <p:nvCxnSpPr>
          <p:cNvPr id="99" name="Google Shape;99;p14"/>
          <p:cNvCxnSpPr/>
          <p:nvPr/>
        </p:nvCxnSpPr>
        <p:spPr>
          <a:xfrm flipH="1">
            <a:off x="5254233" y="1751425"/>
            <a:ext cx="52800" cy="7992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4"/>
          <p:cNvCxnSpPr/>
          <p:nvPr/>
        </p:nvCxnSpPr>
        <p:spPr>
          <a:xfrm flipH="1">
            <a:off x="11763471" y="1903825"/>
            <a:ext cx="52800" cy="7992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6" name="Google Shape;106;p15"/>
          <p:cNvSpPr txBox="1"/>
          <p:nvPr/>
        </p:nvSpPr>
        <p:spPr>
          <a:xfrm>
            <a:off x="1318850" y="238851"/>
            <a:ext cx="107064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PROPOSED SOLUTION 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48425" y="1689300"/>
            <a:ext cx="10706400" cy="28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CORE IDEA / CONCEPT</a:t>
            </a:r>
            <a:endParaRPr sz="37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Project Chronos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is an AI-driven early warning system that analyzes patient vital signs and clinical data to </a:t>
            </a: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 clinical deterioration hours before it occurs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Instead of reacting to crises, the system </a:t>
            </a: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anticipates risk</a:t>
            </a:r>
            <a:r>
              <a:rPr lang="en-US" sz="25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and alerts clinicians in advance.</a:t>
            </a:r>
            <a:endParaRPr sz="4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448425" y="5359150"/>
            <a:ext cx="5855400" cy="49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1. Early Risk Prediction</a:t>
            </a:r>
            <a:endParaRPr sz="25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models analyze patient vitals to estimate the probability of deterioration.</a:t>
            </a:r>
            <a:endParaRPr sz="2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2. Continuous Monitoring</a:t>
            </a:r>
            <a:endParaRPr sz="25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continuously processes incoming patient data and updates risk scores in real time.</a:t>
            </a:r>
            <a:endParaRPr sz="2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3. Intelligent Alerting</a:t>
            </a:r>
            <a:endParaRPr sz="25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Instead of threshold alarms, the system generates </a:t>
            </a:r>
            <a:r>
              <a:rPr lang="en-US" sz="23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predictive alerts</a:t>
            </a:r>
            <a:r>
              <a:rPr lang="en-US" sz="23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 based on risk trajectories.</a:t>
            </a:r>
            <a:endParaRPr sz="4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1479400" y="1588425"/>
            <a:ext cx="654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HOW IT ADDRESSES THE CHALLENGES</a:t>
            </a:r>
            <a:endParaRPr sz="32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11373750" y="2608738"/>
          <a:ext cx="7121700" cy="2342690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356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Challenge</a:t>
                      </a:r>
                      <a:endParaRPr sz="16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Solution</a:t>
                      </a:r>
                      <a:endParaRPr sz="16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Reactive monitoring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Predictive machine learning models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 overload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Automated risk scoring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Alarm fatigue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Intelligent alerts based on trends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Complex data interpretation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Visual dashboards</a:t>
                      </a:r>
                      <a:endParaRPr sz="19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Google Shape;111;p15"/>
          <p:cNvSpPr txBox="1"/>
          <p:nvPr/>
        </p:nvSpPr>
        <p:spPr>
          <a:xfrm>
            <a:off x="11268200" y="5321038"/>
            <a:ext cx="8387700" cy="2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WHY THIS SOLUTION IS BETTER</a:t>
            </a:r>
            <a:endParaRPr sz="36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Existing hospital monitoring systems mainly rely on </a:t>
            </a:r>
            <a:r>
              <a:rPr lang="en-US" sz="24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fixed thresholds</a:t>
            </a: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Example: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5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2930000" y="6778750"/>
            <a:ext cx="3745500" cy="685800"/>
          </a:xfrm>
          <a:prstGeom prst="bracket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if heart rate &gt; 130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2481550" y="9110650"/>
            <a:ext cx="4536900" cy="685800"/>
          </a:xfrm>
          <a:prstGeom prst="bracket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 probability of deterioration in next 6 hours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1268200" y="7840209"/>
            <a:ext cx="73854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This allows clinicians to </a:t>
            </a:r>
            <a:r>
              <a:rPr lang="en-US" sz="24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intervene earlier</a:t>
            </a: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potentially preventing life-threatening events.</a:t>
            </a:r>
            <a:endParaRPr sz="24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57750" y="5555500"/>
            <a:ext cx="4940100" cy="45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4. Clinical Dashboard</a:t>
            </a:r>
            <a:endParaRPr sz="2500" b="1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 visualization dashboard displays: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patient risk scores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vitals timeline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VT323"/>
              <a:buChar char="●"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predicted deterioration probability</a:t>
            </a:r>
            <a:endParaRPr sz="2300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5. Explainable AI</a:t>
            </a:r>
            <a:endParaRPr sz="2500" b="1">
              <a:solidFill>
                <a:srgbClr val="FFFFFF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The system highlights </a:t>
            </a:r>
            <a:r>
              <a:rPr lang="en-US" sz="2300" b="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which vital signs contributed most to the prediction</a:t>
            </a:r>
            <a:r>
              <a:rPr lang="en-US" sz="2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, improving trust among clinicians.</a:t>
            </a:r>
            <a:endParaRPr sz="35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038575" y="4549200"/>
            <a:ext cx="4325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5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KEY FEATURES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5"/>
          <p:cNvCxnSpPr/>
          <p:nvPr/>
        </p:nvCxnSpPr>
        <p:spPr>
          <a:xfrm rot="10800000" flipH="1">
            <a:off x="427300" y="4520975"/>
            <a:ext cx="10629900" cy="26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11189027" y="1885950"/>
            <a:ext cx="0" cy="3086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/>
          <p:nvPr/>
        </p:nvCxnSpPr>
        <p:spPr>
          <a:xfrm flipH="1">
            <a:off x="11136300" y="4890275"/>
            <a:ext cx="52800" cy="5090700"/>
          </a:xfrm>
          <a:prstGeom prst="straightConnector1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/>
          <p:nvPr/>
        </p:nvCxnSpPr>
        <p:spPr>
          <a:xfrm rot="10800000" flipH="1">
            <a:off x="11109950" y="5285900"/>
            <a:ext cx="7121700" cy="26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6" name="Google Shape;126;p16"/>
          <p:cNvSpPr txBox="1"/>
          <p:nvPr/>
        </p:nvSpPr>
        <p:spPr>
          <a:xfrm>
            <a:off x="1028700" y="238851"/>
            <a:ext cx="10706391" cy="120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THE INNOVATION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69275" y="1819475"/>
            <a:ext cx="9577500" cy="7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48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WHAT MAKES IT UNIQUE / ANTI-BORING</a:t>
            </a:r>
            <a:endParaRPr sz="48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Three aspects make the solution stand out:</a:t>
            </a:r>
            <a:endParaRPr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1. Predictive Healthcare</a:t>
            </a:r>
            <a:endParaRPr sz="38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Moves from </a:t>
            </a:r>
            <a:r>
              <a:rPr lang="en-US" sz="3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reactive medicine → predictive medicine</a:t>
            </a:r>
            <a:endParaRPr sz="36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2. Real Clinical Data</a:t>
            </a:r>
            <a:endParaRPr sz="38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built using the </a:t>
            </a:r>
            <a:r>
              <a:rPr lang="en-US" sz="3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MIMIC-IV-ED dataset</a:t>
            </a: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, which contains real hospital patient records.</a:t>
            </a:r>
            <a:endParaRPr sz="36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3. Scalable Architecture</a:t>
            </a:r>
            <a:endParaRPr sz="38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designed to integrate with </a:t>
            </a:r>
            <a:r>
              <a:rPr lang="en-US" sz="36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hospital electronic health record systems</a:t>
            </a:r>
            <a:r>
              <a:rPr lang="en-US" sz="36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6189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4676" y="1720600"/>
            <a:ext cx="7296158" cy="303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5575" y="4856850"/>
            <a:ext cx="5714374" cy="54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5" name="Google Shape;135;p17"/>
          <p:cNvSpPr txBox="1"/>
          <p:nvPr/>
        </p:nvSpPr>
        <p:spPr>
          <a:xfrm>
            <a:off x="1104862" y="238851"/>
            <a:ext cx="12858930" cy="120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TECHNICAL DESCRIPTION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56436" y="1924990"/>
            <a:ext cx="136149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89" b="0" i="0" u="none" strike="noStrike" cap="none">
              <a:solidFill>
                <a:srgbClr val="D9D9D9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556425" y="1867063"/>
          <a:ext cx="7159200" cy="4935615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336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Category</a:t>
                      </a:r>
                      <a:endParaRPr sz="30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Technology</a:t>
                      </a:r>
                      <a:endParaRPr sz="30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Prog.Language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Python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 Processing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Pandas, NumPy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Machine Learning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Scikit-learn / XGBoost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Visualization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Streamlit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Database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PostgreSQL / BigQuery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Dataset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MIMIC-IV-ED Demo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Deployment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Docker / Cloud</a:t>
                      </a:r>
                      <a:endParaRPr sz="28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8" name="Google Shape;138;p17"/>
          <p:cNvSpPr txBox="1"/>
          <p:nvPr/>
        </p:nvSpPr>
        <p:spPr>
          <a:xfrm>
            <a:off x="9885875" y="1709163"/>
            <a:ext cx="9066600" cy="52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System Components</a:t>
            </a:r>
            <a:endParaRPr sz="34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Data Ingestion Layer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Imports clinical data from MIMIC dataset.</a:t>
            </a:r>
            <a:endParaRPr sz="31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Feature Engineering Layer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Processes vital signs into ML features.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Prediction Engine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Machine learning model predicts risk score.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Alert System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Generates alerts if risk crosses threshold.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AutoNum type="arabicPeriod"/>
            </a:pP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Visualization Dashboard</a:t>
            </a:r>
            <a:b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</a:b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Displays patient data and predictions.</a:t>
            </a:r>
            <a:endParaRPr sz="49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647008" y="8512776"/>
            <a:ext cx="706800" cy="73800"/>
          </a:xfrm>
          <a:prstGeom prst="roundRect">
            <a:avLst>
              <a:gd name="adj" fmla="val 50000"/>
            </a:avLst>
          </a:prstGeom>
          <a:solidFill>
            <a:srgbClr val="A7291E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7"/>
          <p:cNvGrpSpPr/>
          <p:nvPr/>
        </p:nvGrpSpPr>
        <p:grpSpPr>
          <a:xfrm>
            <a:off x="456131" y="7948196"/>
            <a:ext cx="2620800" cy="2300350"/>
            <a:chOff x="519878" y="1948510"/>
            <a:chExt cx="1310400" cy="1150175"/>
          </a:xfrm>
        </p:grpSpPr>
        <p:sp>
          <p:nvSpPr>
            <p:cNvPr id="141" name="Google Shape;141;p17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A729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95669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6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519878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Clinical Data (Vitals, Triage)</a:t>
              </a:r>
              <a:endParaRPr sz="20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4" name="Google Shape;144;p17"/>
          <p:cNvGrpSpPr/>
          <p:nvPr/>
        </p:nvGrpSpPr>
        <p:grpSpPr>
          <a:xfrm>
            <a:off x="2865956" y="7986646"/>
            <a:ext cx="2620800" cy="2300350"/>
            <a:chOff x="1848940" y="1948510"/>
            <a:chExt cx="1310400" cy="1150175"/>
          </a:xfrm>
        </p:grpSpPr>
        <p:sp>
          <p:nvSpPr>
            <p:cNvPr id="145" name="Google Shape;145;p17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A729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Data Processing Pipeline</a:t>
              </a:r>
              <a:endParaRPr sz="2000" b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2285740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6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5449426" y="7986646"/>
            <a:ext cx="2719800" cy="2300350"/>
            <a:chOff x="3178034" y="1948510"/>
            <a:chExt cx="1359900" cy="1150175"/>
          </a:xfrm>
        </p:grpSpPr>
        <p:sp>
          <p:nvSpPr>
            <p:cNvPr id="149" name="Google Shape;149;p17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88888"/>
                </a:solidFill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888888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sz="2000" b="1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363957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888888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600" b="1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8005345" y="7986646"/>
            <a:ext cx="2620800" cy="2300350"/>
            <a:chOff x="4557650" y="1948510"/>
            <a:chExt cx="1310400" cy="1150175"/>
          </a:xfrm>
        </p:grpSpPr>
        <p:sp>
          <p:nvSpPr>
            <p:cNvPr id="153" name="Google Shape;153;p17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Machine Learning Model</a:t>
              </a:r>
              <a:endParaRPr sz="2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4994453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6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10531622" y="7986646"/>
            <a:ext cx="2719800" cy="2300350"/>
            <a:chOff x="5887800" y="1948510"/>
            <a:chExt cx="1359900" cy="1150175"/>
          </a:xfrm>
        </p:grpSpPr>
        <p:sp>
          <p:nvSpPr>
            <p:cNvPr id="157" name="Google Shape;157;p17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Risk Score Prediction</a:t>
              </a:r>
              <a:endParaRPr sz="2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6349356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6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0" name="Google Shape;160;p17"/>
          <p:cNvSpPr/>
          <p:nvPr/>
        </p:nvSpPr>
        <p:spPr>
          <a:xfrm>
            <a:off x="5217394" y="8539149"/>
            <a:ext cx="706800" cy="738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715631" y="8591903"/>
            <a:ext cx="706800" cy="738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10288130" y="8539149"/>
            <a:ext cx="706800" cy="738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12746961" y="8586573"/>
            <a:ext cx="706800" cy="73800"/>
          </a:xfrm>
          <a:prstGeom prst="roundRect">
            <a:avLst>
              <a:gd name="adj" fmla="val 50000"/>
            </a:avLst>
          </a:prstGeom>
          <a:solidFill>
            <a:srgbClr val="858585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12904131" y="7948196"/>
            <a:ext cx="2719800" cy="2300350"/>
            <a:chOff x="7264213" y="1948510"/>
            <a:chExt cx="1359900" cy="1150175"/>
          </a:xfrm>
        </p:grpSpPr>
        <p:sp>
          <p:nvSpPr>
            <p:cNvPr id="165" name="Google Shape;165;p17"/>
            <p:cNvSpPr/>
            <p:nvPr/>
          </p:nvSpPr>
          <p:spPr>
            <a:xfrm>
              <a:off x="7647018" y="1948510"/>
              <a:ext cx="594300" cy="594300"/>
            </a:xfrm>
            <a:prstGeom prst="ellipse">
              <a:avLst/>
            </a:prstGeom>
            <a:noFill/>
            <a:ln w="762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7264213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Alert + Dashboard</a:t>
              </a:r>
              <a:endParaRPr sz="20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725768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50" tIns="182850" rIns="182850" bIns="18285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None/>
              </a:pPr>
              <a:r>
                <a:rPr lang="en-US" sz="1600" b="1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1600" b="1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927100" y="7087950"/>
            <a:ext cx="24267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89" u="sng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DATA FLOW</a:t>
            </a:r>
            <a:endParaRPr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8"/>
          <p:cNvSpPr txBox="1"/>
          <p:nvPr/>
        </p:nvSpPr>
        <p:spPr>
          <a:xfrm>
            <a:off x="128550" y="274325"/>
            <a:ext cx="88869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IMPACT &amp; BENEFITS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28550" y="1662675"/>
            <a:ext cx="9675300" cy="4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EXPECTED IMPACT</a:t>
            </a:r>
            <a:endParaRPr sz="40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could significantly improve clinical decision-making by providing </a:t>
            </a:r>
            <a:r>
              <a:rPr lang="en-US" sz="28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earlier insights into patient deterioration</a:t>
            </a: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Potential impact areas: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ICU monitoring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emergency department triage</a:t>
            </a:r>
            <a:endParaRPr sz="28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T323"/>
              <a:buChar char="●"/>
            </a:pPr>
            <a:r>
              <a:rPr lang="en-US" sz="28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remote patient monitoring</a:t>
            </a:r>
            <a:endParaRPr sz="5389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graphicFrame>
        <p:nvGraphicFramePr>
          <p:cNvPr id="176" name="Google Shape;176;p18"/>
          <p:cNvGraphicFramePr/>
          <p:nvPr/>
        </p:nvGraphicFramePr>
        <p:xfrm>
          <a:off x="8424875" y="6348050"/>
          <a:ext cx="9675200" cy="3081158"/>
        </p:xfrm>
        <a:graphic>
          <a:graphicData uri="http://schemas.openxmlformats.org/drawingml/2006/table">
            <a:tbl>
              <a:tblPr>
                <a:noFill/>
                <a:tableStyleId>{E3AD02C6-73F4-4E86-B738-824DFAA2CBF0}</a:tableStyleId>
              </a:tblPr>
              <a:tblGrid>
                <a:gridCol w="48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Benefit</a:t>
                      </a:r>
                      <a:endParaRPr sz="19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Explanation</a:t>
                      </a:r>
                      <a:endParaRPr sz="1900" b="1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Speed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Automated real-time risk predictions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Accuracy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Machine learning detects complex patterns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Simplicity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Easy-to-use clinical dashboard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Accessibility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Scalable cloud-based deployment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Early Intervention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  <a:latin typeface="VT323"/>
                          <a:ea typeface="VT323"/>
                          <a:cs typeface="VT323"/>
                          <a:sym typeface="VT323"/>
                        </a:rPr>
                        <a:t>Enables preventive treatment</a:t>
                      </a:r>
                      <a:endParaRPr sz="2200">
                        <a:solidFill>
                          <a:schemeClr val="lt1"/>
                        </a:solidFill>
                        <a:latin typeface="VT323"/>
                        <a:ea typeface="VT323"/>
                        <a:cs typeface="VT323"/>
                        <a:sym typeface="VT323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7" name="Google Shape;177;p18"/>
          <p:cNvSpPr txBox="1"/>
          <p:nvPr/>
        </p:nvSpPr>
        <p:spPr>
          <a:xfrm>
            <a:off x="313175" y="6063625"/>
            <a:ext cx="7179900" cy="4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SHORT-TERM VS LONG-TERM VALUE</a:t>
            </a:r>
            <a:endParaRPr sz="36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Short Term</a:t>
            </a:r>
            <a:endParaRPr sz="24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Prototype demonstrating predictive monitoring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Decision support for clinicians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Long Term</a:t>
            </a:r>
            <a:endParaRPr sz="24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Integration into hospital monitoring systems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Deployment in ICU and emergency departments</a:t>
            </a:r>
            <a:endParaRPr sz="24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T323"/>
              <a:buChar char="●"/>
            </a:pPr>
            <a:r>
              <a:rPr lang="en-US" sz="24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Large-scale predictive healthcare systems</a:t>
            </a:r>
            <a:endParaRPr sz="36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606475" y="1678725"/>
            <a:ext cx="8493600" cy="3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MEASURABLE IMPROVEMENTS</a:t>
            </a:r>
            <a:endParaRPr sz="44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Potential measurable improvements include: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earlier detection of deterioration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reduced ICU mortality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reduced emergency response time</a:t>
            </a:r>
            <a:endParaRPr sz="3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T323"/>
              <a:buChar char="●"/>
            </a:pPr>
            <a:r>
              <a:rPr lang="en-US" sz="3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improved clinician decision support</a:t>
            </a:r>
            <a:endParaRPr sz="53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4" name="Google Shape;184;p19"/>
          <p:cNvSpPr txBox="1"/>
          <p:nvPr/>
        </p:nvSpPr>
        <p:spPr>
          <a:xfrm>
            <a:off x="1028700" y="238851"/>
            <a:ext cx="15691898" cy="120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 b="0" i="0" u="none" strike="noStrike" cap="none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FEASIBILITY &amp; VIABILITY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77296" y="1977750"/>
            <a:ext cx="8205900" cy="6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-US" sz="54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TECHNICAL FEASIBILITY</a:t>
            </a:r>
            <a:endParaRPr sz="54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The system is technically feasible due to: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publicly available clinical datasets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mature machine learning frameworks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scalable cloud infrastructure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 prototype can be built using the </a:t>
            </a:r>
            <a:r>
              <a:rPr lang="en-US" sz="42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MIMIC-IV demo dataset</a:t>
            </a: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.</a:t>
            </a:r>
            <a:endParaRPr sz="6789" i="0" u="none" strike="noStrike" cap="none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9078925" y="1808700"/>
            <a:ext cx="8936400" cy="7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u="sng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SCALABILITY &amp; FUTURE ENHANCEMENTS</a:t>
            </a:r>
            <a:endParaRPr sz="5400" b="1" u="sng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Future extensions may include: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training on </a:t>
            </a:r>
            <a:r>
              <a:rPr lang="en-US" sz="4200" b="1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full MIMIC-IV dataset</a:t>
            </a:r>
            <a:endParaRPr sz="4200" b="1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deep learning models (LSTM / Transformers)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real-time hospital data integration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wearable device monitoring</a:t>
            </a:r>
            <a:endParaRPr sz="420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  <a:p>
            <a:pPr marL="457200" lvl="0" indent="-495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VT323"/>
              <a:buChar char="●"/>
            </a:pPr>
            <a:r>
              <a:rPr lang="en-US" sz="420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personalized patient risk modeling</a:t>
            </a:r>
            <a:endParaRPr sz="6300">
              <a:solidFill>
                <a:schemeClr val="dk1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2" name="Google Shape;192;p20"/>
          <p:cNvGrpSpPr/>
          <p:nvPr/>
        </p:nvGrpSpPr>
        <p:grpSpPr>
          <a:xfrm>
            <a:off x="1147325" y="4326800"/>
            <a:ext cx="15993281" cy="482532"/>
            <a:chOff x="0" y="-66687"/>
            <a:chExt cx="21324375" cy="643376"/>
          </a:xfrm>
        </p:grpSpPr>
        <p:sp>
          <p:nvSpPr>
            <p:cNvPr id="193" name="Google Shape;193;p20"/>
            <p:cNvSpPr txBox="1"/>
            <p:nvPr/>
          </p:nvSpPr>
          <p:spPr>
            <a:xfrm>
              <a:off x="0" y="-66687"/>
              <a:ext cx="37527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RAVIKANT GUPTA</a:t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10863353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</a:t>
              </a: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MEMBER</a:t>
              </a:r>
              <a:endParaRPr/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15817875" y="-64111"/>
              <a:ext cx="5506500" cy="64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23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</a:t>
              </a:r>
              <a:endParaRPr/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1806725" y="5757594"/>
            <a:ext cx="15333881" cy="492873"/>
            <a:chOff x="879200" y="-66675"/>
            <a:chExt cx="20445175" cy="657164"/>
          </a:xfrm>
        </p:grpSpPr>
        <p:sp>
          <p:nvSpPr>
            <p:cNvPr id="199" name="Google Shape;199;p20"/>
            <p:cNvSpPr txBox="1"/>
            <p:nvPr/>
          </p:nvSpPr>
          <p:spPr>
            <a:xfrm>
              <a:off x="879200" y="-56892"/>
              <a:ext cx="20595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ANJEET</a:t>
              </a:r>
              <a:endParaRPr/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0863353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</a:t>
              </a: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MEMBER</a:t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15817875" y="-64111"/>
              <a:ext cx="5506500" cy="6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90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</a:t>
              </a:r>
              <a:r>
                <a:rPr lang="en-US" sz="31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E</a:t>
              </a:r>
              <a:endParaRPr/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1147325" y="2896025"/>
            <a:ext cx="15993281" cy="514439"/>
            <a:chOff x="0" y="-66675"/>
            <a:chExt cx="21324375" cy="685919"/>
          </a:xfrm>
        </p:grpSpPr>
        <p:sp>
          <p:nvSpPr>
            <p:cNvPr id="205" name="Google Shape;205;p20"/>
            <p:cNvSpPr txBox="1"/>
            <p:nvPr/>
          </p:nvSpPr>
          <p:spPr>
            <a:xfrm>
              <a:off x="0" y="-66675"/>
              <a:ext cx="39636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VIDHYADHAR</a:t>
              </a:r>
              <a:endParaRPr/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2778199" y="-66675"/>
              <a:ext cx="53808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NIT KKR</a:t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8316910" y="-66675"/>
              <a:ext cx="2280300" cy="63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THANESAR</a:t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10863353" y="-66675"/>
              <a:ext cx="5380782" cy="6859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0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TEAM LEADER</a:t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5817875" y="-64111"/>
              <a:ext cx="5506500" cy="64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23" b="0" i="0" u="none" strike="noStrike" cap="none">
                  <a:solidFill>
                    <a:srgbClr val="D9D9D9"/>
                  </a:solidFill>
                  <a:latin typeface="VT323"/>
                  <a:ea typeface="VT323"/>
                  <a:cs typeface="VT323"/>
                  <a:sym typeface="VT323"/>
                </a:rPr>
                <a:t>MALE</a:t>
              </a:r>
              <a:endParaRPr/>
            </a:p>
          </p:txBody>
        </p:sp>
      </p:grpSp>
      <p:sp>
        <p:nvSpPr>
          <p:cNvPr id="210" name="Google Shape;210;p20"/>
          <p:cNvSpPr txBox="1"/>
          <p:nvPr/>
        </p:nvSpPr>
        <p:spPr>
          <a:xfrm>
            <a:off x="7016552" y="317975"/>
            <a:ext cx="42549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29">
                <a:solidFill>
                  <a:srgbClr val="D9D9D9"/>
                </a:solidFill>
                <a:latin typeface="VT323"/>
                <a:ea typeface="VT323"/>
                <a:cs typeface="VT323"/>
                <a:sym typeface="VT323"/>
              </a:rPr>
              <a:t>SYNAPSE_GTB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Custom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VT323</vt:lpstr>
      <vt:lpstr>Roboto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Vidhyadhar Adasul</dc:creator>
  <cp:lastModifiedBy>Vidhyadhar Adasul</cp:lastModifiedBy>
  <cp:revision>1</cp:revision>
  <dcterms:modified xsi:type="dcterms:W3CDTF">2026-03-19T08:05:44Z</dcterms:modified>
</cp:coreProperties>
</file>