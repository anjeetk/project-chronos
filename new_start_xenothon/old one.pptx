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9" r:id="rId4"/>
    <p:sldId id="267" r:id="rId5"/>
    <p:sldId id="268" r:id="rId6"/>
    <p:sldId id="260" r:id="rId7"/>
    <p:sldId id="266" r:id="rId8"/>
    <p:sldId id="261" r:id="rId9"/>
    <p:sldId id="262" r:id="rId10"/>
    <p:sldId id="269" r:id="rId11"/>
    <p:sldId id="263" r:id="rId12"/>
    <p:sldId id="271" r:id="rId13"/>
    <p:sldId id="272" r:id="rId14"/>
    <p:sldId id="273" r:id="rId15"/>
    <p:sldId id="264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 snapToObjects="1">
      <p:cViewPr varScale="1">
        <p:scale>
          <a:sx n="45" d="100"/>
          <a:sy n="45" d="100"/>
        </p:scale>
        <p:origin x="1546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usiness-standard.com/article/current-affairs/india-s-medical-error-deaths-nearly-5-mn-a-year-can-be-cut-by-50-expert-118102800193_1.html" TargetMode="External"/><Relationship Id="rId2" Type="http://schemas.openxmlformats.org/officeDocument/2006/relationships/hyperlink" Target="https://digitalassets.jointcommission.org/api/public/content/eac7511986c0442a9c1ae04b1aa02cc0?v=ad34daa0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indianexpress.com/article/legal-news/medical-negligence-cases-india-2025-hospital-paperwork-digital-evidence-ncdrc-data-10521097/?ref=latestnews_hp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200" b="1" dirty="0"/>
              <a:t>The Problem</a:t>
            </a:r>
            <a:endParaRPr sz="4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000" dirty="0">
                <a:hlinkClick r:id="rId2"/>
              </a:rPr>
              <a:t>The Joint Commission (2024) </a:t>
            </a:r>
            <a:r>
              <a:rPr lang="en-US" sz="2000" dirty="0"/>
              <a:t> excessive clinical alarms can cause </a:t>
            </a:r>
            <a:r>
              <a:rPr lang="en-US" sz="2000" b="1" dirty="0"/>
              <a:t>alarm fatigue</a:t>
            </a:r>
            <a:r>
              <a:rPr lang="en-US" sz="2000" dirty="0"/>
              <a:t>, where healthcare staff become desensitized and may miss critical alerts.</a:t>
            </a:r>
          </a:p>
          <a:p>
            <a:r>
              <a:rPr lang="en-US" sz="2000" dirty="0"/>
              <a:t>In a 10-bed ICU (Jan 1–31, 2023), </a:t>
            </a:r>
            <a:r>
              <a:rPr lang="en-US" sz="2000" b="1" dirty="0"/>
              <a:t>58,667 yellow alarms and 3,178 red alarms</a:t>
            </a:r>
            <a:r>
              <a:rPr lang="en-US" sz="2000" dirty="0"/>
              <a:t> were recorded, showing the scale of the problem.</a:t>
            </a:r>
          </a:p>
          <a:p>
            <a:r>
              <a:rPr lang="en-US" sz="2000" dirty="0"/>
              <a:t>Interviews with </a:t>
            </a:r>
            <a:r>
              <a:rPr lang="en-US" sz="2000" b="1" dirty="0"/>
              <a:t>28 nurses</a:t>
            </a:r>
            <a:r>
              <a:rPr lang="en-US" sz="2000" dirty="0"/>
              <a:t> revealed </a:t>
            </a:r>
            <a:r>
              <a:rPr lang="en-US" sz="2000" b="1" dirty="0"/>
              <a:t>85.7% felt overwhelmed by alarms</a:t>
            </a:r>
            <a:r>
              <a:rPr lang="en-US" sz="2000" dirty="0"/>
              <a:t>, and many lacked proper training on alarm management.</a:t>
            </a:r>
          </a:p>
          <a:p>
            <a:r>
              <a:rPr lang="en-US" sz="2000" dirty="0"/>
              <a:t>A study by the Harvard University last year showed that nearly 5,000,000 deaths occur in India annually due to medical errors triggered by lack of practical - </a:t>
            </a:r>
            <a:r>
              <a:rPr lang="en-US" sz="2000" dirty="0">
                <a:hlinkClick r:id="rId3"/>
              </a:rPr>
              <a:t>Business Standard Report</a:t>
            </a:r>
            <a:endParaRPr lang="en-US" sz="2000" dirty="0"/>
          </a:p>
          <a:p>
            <a:r>
              <a:rPr lang="en-US" sz="2200" dirty="0"/>
              <a:t>India’s healthcare sector saw 65,000 medical negligence cases filed in 2025 across State High Courts, the Supreme Court and the National Consumer Disputes Redressal Commission (NCDRC) -</a:t>
            </a:r>
            <a:r>
              <a:rPr lang="en-US" sz="2200" dirty="0">
                <a:hlinkClick r:id="rId4"/>
              </a:rPr>
              <a:t>The Indian Express</a:t>
            </a:r>
            <a:endParaRPr sz="2200" dirty="0"/>
          </a:p>
          <a:p>
            <a:r>
              <a:rPr lang="en-US" sz="2000" dirty="0"/>
              <a:t>ICUs generate millions of patient data points every hour</a:t>
            </a:r>
          </a:p>
          <a:p>
            <a:r>
              <a:rPr lang="en-US" sz="2000" dirty="0"/>
              <a:t>Monitors detect problems only after patient deterioration</a:t>
            </a:r>
          </a:p>
          <a:p>
            <a:r>
              <a:rPr lang="en-US" sz="2000" dirty="0"/>
              <a:t>Alarm fatigue causes doctors to ignore constant alerts</a:t>
            </a:r>
          </a:p>
          <a:p>
            <a:r>
              <a:rPr lang="en-US" sz="2000" dirty="0"/>
              <a:t>Human cognition cannot analyze complex physiological trends in real time</a:t>
            </a:r>
          </a:p>
          <a:p>
            <a:r>
              <a:rPr sz="2000" dirty="0"/>
              <a:t>Team: Your Team Name | Track: HealthTech Hackathon</a:t>
            </a:r>
          </a:p>
          <a:p>
            <a:r>
              <a:rPr sz="2000" dirty="0"/>
              <a:t>“In ICU, every minute matters. We give doctors hours.”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b="1" dirty="0"/>
              <a:t>Our Vision</a:t>
            </a:r>
            <a:endParaRPr sz="4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Create a machine learning engine to predict Cardiac Arrest, Septic Shock, and Hemodynamic Collapse 2–6 hours early</a:t>
            </a:r>
          </a:p>
          <a:p>
            <a:r>
              <a:rPr lang="en-US" dirty="0"/>
              <a:t>AI forecasts catastrophic ICU events before they occur</a:t>
            </a:r>
          </a:p>
          <a:p>
            <a:r>
              <a:rPr lang="en-US" dirty="0"/>
              <a:t>Predict cardiac arrest, septic shock, and blood pressure collapse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/>
              <a:t>Solution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800" dirty="0"/>
              <a:t>AI Predictive Engine analyzing real-time ICU vitals</a:t>
            </a:r>
            <a:r>
              <a:rPr lang="en-US" sz="2800" dirty="0"/>
              <a:t>(</a:t>
            </a:r>
            <a:r>
              <a:rPr lang="en-IN" sz="2800" dirty="0"/>
              <a:t>'</a:t>
            </a:r>
            <a:r>
              <a:rPr lang="en-IN" sz="2800" dirty="0" err="1"/>
              <a:t>heart_rate</a:t>
            </a:r>
            <a:r>
              <a:rPr lang="en-IN" sz="2800" dirty="0"/>
              <a:t>', '</a:t>
            </a:r>
            <a:r>
              <a:rPr lang="en-IN" sz="2800" dirty="0" err="1"/>
              <a:t>respiratory_rate</a:t>
            </a:r>
            <a:r>
              <a:rPr lang="en-IN" sz="2800" dirty="0"/>
              <a:t>', 'spo2', '</a:t>
            </a:r>
            <a:r>
              <a:rPr lang="en-IN" sz="2800" dirty="0" err="1"/>
              <a:t>map_arterial</a:t>
            </a:r>
            <a:r>
              <a:rPr lang="en-IN" sz="2800" dirty="0"/>
              <a:t>', '</a:t>
            </a:r>
            <a:r>
              <a:rPr lang="en-IN" sz="2800" dirty="0" err="1"/>
              <a:t>map_nibp</a:t>
            </a:r>
            <a:r>
              <a:rPr lang="en-IN" sz="2800" dirty="0"/>
              <a:t>', 'lactate’)</a:t>
            </a:r>
            <a:endParaRPr sz="2800" dirty="0"/>
          </a:p>
          <a:p>
            <a:r>
              <a:rPr sz="2800" dirty="0"/>
              <a:t>Explainable clinical dashboard ranking patient risk</a:t>
            </a:r>
          </a:p>
          <a:p>
            <a:r>
              <a:rPr sz="2800" dirty="0"/>
              <a:t>Edge deployment ensuring hospital data privacy</a:t>
            </a:r>
          </a:p>
          <a:p>
            <a:r>
              <a:rPr sz="2800" dirty="0"/>
              <a:t>Goal: transform reactive ICU care into proactive care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2">
            <a:extLst>
              <a:ext uri="{FF2B5EF4-FFF2-40B4-BE49-F238E27FC236}">
                <a16:creationId xmlns:a16="http://schemas.microsoft.com/office/drawing/2014/main" id="{33C678D7-1FA7-C61F-F8E3-56C3C681F7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33401" y="664029"/>
            <a:ext cx="6803570" cy="68035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A886E93-22B7-D1DA-DEC5-CA8CF0ABD6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20425"/>
            <a:ext cx="9144000" cy="38171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56530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38F8865-667A-D232-A79E-A291198D0F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82474"/>
            <a:ext cx="9144000" cy="3493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8525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000" dirty="0"/>
              <a:t>Dataset &amp; Preprocessing Pipeline</a:t>
            </a:r>
            <a:endParaRPr sz="4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dirty="0"/>
              <a:t>Dataset Source: </a:t>
            </a:r>
          </a:p>
          <a:p>
            <a:pPr marL="0" indent="0" algn="just">
              <a:buNone/>
            </a:pPr>
            <a:r>
              <a:rPr lang="en-US" sz="2200" dirty="0"/>
              <a:t>We train our predictive models using the </a:t>
            </a:r>
            <a:r>
              <a:rPr lang="en-US" sz="2200" b="1" dirty="0"/>
              <a:t>MIMIC-IV Clinical Database</a:t>
            </a:r>
            <a:r>
              <a:rPr lang="en-US" sz="2200" dirty="0"/>
              <a:t>, a large-scale ICU dataset from </a:t>
            </a:r>
            <a:r>
              <a:rPr lang="en-US" sz="2200" b="1" dirty="0"/>
              <a:t>Beth Israel Deaconess Medical Center</a:t>
            </a:r>
            <a:r>
              <a:rPr lang="en-US" sz="2200" dirty="0"/>
              <a:t> containing thousands of de-identified patient records with high-resolution physiological time-series data.</a:t>
            </a:r>
          </a:p>
          <a:p>
            <a:pPr marL="0" indent="0">
              <a:buNone/>
            </a:pPr>
            <a:r>
              <a:rPr lang="en-IN" sz="2600" b="1" dirty="0"/>
              <a:t>Physiological Features Used</a:t>
            </a:r>
          </a:p>
          <a:p>
            <a:pPr marL="0" indent="0">
              <a:buNone/>
            </a:pPr>
            <a:r>
              <a:rPr lang="en-IN" sz="2200" dirty="0"/>
              <a:t>Key ICU vitals used for prediction:</a:t>
            </a:r>
          </a:p>
          <a:p>
            <a:r>
              <a:rPr lang="en-IN" sz="2200" dirty="0"/>
              <a:t>• Heart Rate</a:t>
            </a:r>
            <a:br>
              <a:rPr lang="en-IN" sz="2200" dirty="0"/>
            </a:br>
            <a:r>
              <a:rPr lang="en-IN" sz="2200" dirty="0"/>
              <a:t>• Respiratory Rate</a:t>
            </a:r>
            <a:br>
              <a:rPr lang="en-IN" sz="2200" dirty="0"/>
            </a:br>
            <a:r>
              <a:rPr lang="en-IN" sz="2200" dirty="0"/>
              <a:t>• SpO₂ (Oxygen Saturation)</a:t>
            </a:r>
            <a:br>
              <a:rPr lang="en-IN" sz="2200" dirty="0"/>
            </a:br>
            <a:r>
              <a:rPr lang="en-IN" sz="2200" dirty="0"/>
              <a:t>• Mean Arterial Pressure (MAP – arterial)</a:t>
            </a:r>
            <a:br>
              <a:rPr lang="en-IN" sz="2200" dirty="0"/>
            </a:br>
            <a:r>
              <a:rPr lang="en-IN" sz="2200" dirty="0"/>
              <a:t>• MAP (Non-invasive BP)</a:t>
            </a:r>
            <a:br>
              <a:rPr lang="en-IN" sz="2200" dirty="0"/>
            </a:br>
            <a:r>
              <a:rPr lang="en-IN" sz="2200" dirty="0"/>
              <a:t>• Lactate Level (important biomarker for sepsis)</a:t>
            </a:r>
          </a:p>
          <a:p>
            <a:pPr marL="0" indent="0">
              <a:buNone/>
            </a:pPr>
            <a:r>
              <a:rPr lang="en-IN" sz="2200" dirty="0"/>
              <a:t>These vitals represent the </a:t>
            </a:r>
            <a:r>
              <a:rPr lang="en-IN" sz="2200" b="1" dirty="0"/>
              <a:t>patient’s physiological state over time</a:t>
            </a:r>
            <a:r>
              <a:rPr lang="en-IN" sz="2200" dirty="0"/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7FF409-23B8-53BA-902B-F34168017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Continue…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FC9D8A-7A1C-135F-4867-B082A068FB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Sliding Window Time-Series Construction</a:t>
            </a:r>
          </a:p>
          <a:p>
            <a:r>
              <a:rPr lang="en-US" dirty="0"/>
              <a:t>To capture temporal patterns in patient health:</a:t>
            </a:r>
          </a:p>
          <a:p>
            <a:r>
              <a:rPr lang="en-US" dirty="0"/>
              <a:t>• </a:t>
            </a:r>
            <a:r>
              <a:rPr lang="en-US" b="1" dirty="0"/>
              <a:t>Input Window:</a:t>
            </a:r>
            <a:r>
              <a:rPr lang="en-US" dirty="0"/>
              <a:t> Past </a:t>
            </a:r>
            <a:r>
              <a:rPr lang="en-US" b="1" dirty="0"/>
              <a:t>12 hours</a:t>
            </a:r>
            <a:r>
              <a:rPr lang="en-US" dirty="0"/>
              <a:t> of vitals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Prediction Gap:</a:t>
            </a:r>
            <a:r>
              <a:rPr lang="en-US" dirty="0"/>
              <a:t> </a:t>
            </a:r>
            <a:r>
              <a:rPr lang="en-US" b="1" dirty="0"/>
              <a:t>6 hours buffer</a:t>
            </a:r>
            <a:r>
              <a:rPr lang="en-US" dirty="0"/>
              <a:t> to prevent data leakage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Prediction Horizon:</a:t>
            </a:r>
            <a:r>
              <a:rPr lang="en-US" dirty="0"/>
              <a:t> Next </a:t>
            </a:r>
            <a:r>
              <a:rPr lang="en-US" b="1" dirty="0"/>
              <a:t>6 hours</a:t>
            </a:r>
          </a:p>
          <a:p>
            <a:r>
              <a:rPr lang="en-US" dirty="0"/>
              <a:t>This allows the model to </a:t>
            </a:r>
            <a:r>
              <a:rPr lang="en-US" b="1" dirty="0"/>
              <a:t>predict clinical deterioration 2–6 hours before the event occurs</a:t>
            </a:r>
            <a:r>
              <a:rPr lang="en-US" dirty="0"/>
              <a:t>.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Clinical Events Predicted</a:t>
            </a:r>
          </a:p>
          <a:p>
            <a:r>
              <a:rPr lang="en-US" dirty="0"/>
              <a:t>Each window is labeled for future events:</a:t>
            </a:r>
          </a:p>
          <a:p>
            <a:pPr marL="0" indent="0">
              <a:buNone/>
            </a:pPr>
            <a:r>
              <a:rPr lang="en-US" dirty="0"/>
              <a:t>• </a:t>
            </a:r>
            <a:r>
              <a:rPr lang="en-US" b="1" dirty="0"/>
              <a:t>Sepsis (Sepsis-3 criteria)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Septic Shock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Cardiac Arrest</a:t>
            </a:r>
            <a:br>
              <a:rPr lang="en-US" dirty="0"/>
            </a:br>
            <a:r>
              <a:rPr lang="en-US" dirty="0"/>
              <a:t>• </a:t>
            </a:r>
            <a:r>
              <a:rPr lang="en-US" b="1" dirty="0"/>
              <a:t>General ICU Deterioration</a:t>
            </a:r>
            <a:endParaRPr lang="en-US" dirty="0"/>
          </a:p>
          <a:p>
            <a:r>
              <a:rPr lang="en-US" dirty="0"/>
              <a:t>Labels are </a:t>
            </a:r>
            <a:r>
              <a:rPr lang="en-US" b="1" dirty="0"/>
              <a:t>binary indicators</a:t>
            </a:r>
            <a:r>
              <a:rPr lang="en-US" dirty="0"/>
              <a:t> showing whether the event occurs within the prediction horizon.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662820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 dirty="0"/>
              <a:t>Clinical Events Predicted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000" dirty="0"/>
              <a:t>Sepsis onset using Sepsis-3 clinical rules</a:t>
            </a:r>
          </a:p>
          <a:p>
            <a:r>
              <a:rPr sz="2000" dirty="0"/>
              <a:t>Septic shock detected via vasopressors and lactate levels</a:t>
            </a:r>
          </a:p>
          <a:p>
            <a:r>
              <a:rPr sz="2000" dirty="0"/>
              <a:t>Cardiac arrest detection from procedures and notes</a:t>
            </a:r>
          </a:p>
          <a:p>
            <a:r>
              <a:rPr sz="2000" dirty="0"/>
              <a:t>General ICU deterioration and mortality risk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200" b="1" dirty="0"/>
              <a:t>Baseline model</a:t>
            </a:r>
            <a:endParaRPr sz="4200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endParaRPr dirty="0"/>
          </a:p>
          <a:p>
            <a:r>
              <a:rPr lang="en-US" sz="2000" dirty="0"/>
              <a:t>We use </a:t>
            </a:r>
            <a:r>
              <a:rPr lang="en-US" sz="2000" b="1" dirty="0" err="1"/>
              <a:t>XGBoost</a:t>
            </a:r>
            <a:r>
              <a:rPr lang="en-US" sz="2000" b="1" dirty="0"/>
              <a:t> Classifier</a:t>
            </a:r>
            <a:r>
              <a:rPr lang="en-US" sz="2000" dirty="0"/>
              <a:t> and </a:t>
            </a:r>
            <a:r>
              <a:rPr lang="en-US" sz="2000" b="1" dirty="0"/>
              <a:t>logistic regression </a:t>
            </a:r>
            <a:r>
              <a:rPr lang="en-US" sz="2000" dirty="0"/>
              <a:t>as the baseline model due to its strong performance on structured medical data.</a:t>
            </a:r>
          </a:p>
          <a:p>
            <a:r>
              <a:rPr lang="en-US" sz="2000" dirty="0"/>
              <a:t>Key parameters:</a:t>
            </a:r>
          </a:p>
          <a:p>
            <a:r>
              <a:rPr lang="en-US" sz="2000" dirty="0"/>
              <a:t>• 100 decision trees</a:t>
            </a:r>
            <a:br>
              <a:rPr lang="en-US" sz="2000" dirty="0"/>
            </a:br>
            <a:r>
              <a:rPr lang="en-US" sz="2000" dirty="0"/>
              <a:t>• Max depth = 4</a:t>
            </a:r>
            <a:br>
              <a:rPr lang="en-US" sz="2000" dirty="0"/>
            </a:br>
            <a:r>
              <a:rPr lang="en-US" sz="2000" dirty="0"/>
              <a:t>• Learning rate = 0.1</a:t>
            </a:r>
            <a:br>
              <a:rPr lang="en-US" sz="2000" dirty="0"/>
            </a:br>
            <a:r>
              <a:rPr lang="en-US" sz="2000" dirty="0"/>
              <a:t>• Class imbalance handled using </a:t>
            </a:r>
            <a:r>
              <a:rPr lang="en-US" sz="2000" b="1" dirty="0" err="1"/>
              <a:t>scale_pos_weight</a:t>
            </a:r>
            <a:endParaRPr lang="en-US" sz="2000" dirty="0"/>
          </a:p>
          <a:p>
            <a:r>
              <a:rPr lang="en-US" sz="2000" dirty="0"/>
              <a:t>Training uses </a:t>
            </a:r>
            <a:r>
              <a:rPr lang="en-US" sz="2000" b="1" dirty="0"/>
              <a:t>combined training + validation datasets</a:t>
            </a:r>
            <a:r>
              <a:rPr lang="en-US" sz="2000" dirty="0"/>
              <a:t> to improve model learning.</a:t>
            </a:r>
          </a:p>
          <a:p>
            <a:pPr marL="0" indent="0">
              <a:buNone/>
            </a:pPr>
            <a:r>
              <a:rPr lang="en-US" sz="2000" dirty="0"/>
              <a:t>Dataset → Feature Windows → </a:t>
            </a:r>
            <a:r>
              <a:rPr lang="en-US" sz="2000" dirty="0" err="1"/>
              <a:t>XGBoost</a:t>
            </a:r>
            <a:r>
              <a:rPr lang="en-US" sz="2000" dirty="0"/>
              <a:t> Model/</a:t>
            </a:r>
            <a:r>
              <a:rPr lang="en-US" sz="2000" dirty="0" err="1"/>
              <a:t>Logistric</a:t>
            </a:r>
            <a:r>
              <a:rPr lang="en-US" sz="2000" dirty="0"/>
              <a:t> Regression  → Calibration → Evaluation → SHAP → Saved Model</a:t>
            </a:r>
          </a:p>
          <a:p>
            <a:pPr marL="0" indent="0">
              <a:buNone/>
            </a:pPr>
            <a:r>
              <a:rPr lang="en-US" sz="2000" b="1" dirty="0"/>
              <a:t>Key Outcome</a:t>
            </a:r>
          </a:p>
          <a:p>
            <a:pPr marL="0" indent="0">
              <a:buNone/>
            </a:pPr>
            <a:r>
              <a:rPr lang="en-US" sz="2000" dirty="0"/>
              <a:t>The baseline training module produces </a:t>
            </a:r>
            <a:r>
              <a:rPr lang="en-US" sz="2000" b="1" dirty="0"/>
              <a:t>clinically interpretable predictive models</a:t>
            </a:r>
            <a:r>
              <a:rPr lang="en-US" sz="2000" dirty="0"/>
              <a:t> capable of forecasting:</a:t>
            </a:r>
          </a:p>
          <a:p>
            <a:r>
              <a:rPr lang="en-US" sz="2000" dirty="0"/>
              <a:t>Septic Shock</a:t>
            </a:r>
          </a:p>
          <a:p>
            <a:r>
              <a:rPr lang="en-US" sz="2000" dirty="0"/>
              <a:t>Sepsis</a:t>
            </a:r>
          </a:p>
          <a:p>
            <a:r>
              <a:rPr lang="en-US" sz="2000" dirty="0"/>
              <a:t>Cardiac Arrest</a:t>
            </a:r>
          </a:p>
          <a:p>
            <a:r>
              <a:rPr lang="en-US" sz="2000" dirty="0"/>
              <a:t>ICU Deterioration</a:t>
            </a:r>
          </a:p>
          <a:p>
            <a:pPr marL="0" indent="0">
              <a:buNone/>
            </a:pPr>
            <a:r>
              <a:rPr lang="en-US" sz="2000" b="1" dirty="0"/>
              <a:t>2–6 hours before the event occurs with AUROC of 0.89 and AUPRC for rare medical event detection</a:t>
            </a:r>
          </a:p>
          <a:p>
            <a:pPr marL="0" indent="0">
              <a:buNone/>
            </a:pPr>
            <a:r>
              <a:rPr lang="en-US" sz="2000" b="1" dirty="0"/>
              <a:t>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7BB80-2D54-C528-2D8F-EF326716E1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000" b="1" dirty="0"/>
              <a:t>Deep Learning Models for Temporal ICU Prediction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FDA7D4-7BBB-1303-BCEE-6167F0FB26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09134"/>
            <a:ext cx="8229600" cy="501703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To capture </a:t>
            </a:r>
            <a:r>
              <a:rPr lang="en-US" b="1" dirty="0"/>
              <a:t>complex physiological patterns in ICU time-series data</a:t>
            </a:r>
            <a:r>
              <a:rPr lang="en-US" dirty="0"/>
              <a:t>, we employ multiple deep learning architectures optimized for sequential modeling.</a:t>
            </a:r>
          </a:p>
          <a:p>
            <a:pPr marL="0" indent="0">
              <a:buNone/>
            </a:pPr>
            <a:r>
              <a:rPr lang="en-US" b="1" dirty="0"/>
              <a:t>Recurrent Neural Networks (Temporal Learning)</a:t>
            </a:r>
          </a:p>
          <a:p>
            <a:pPr marL="0" indent="0">
              <a:buNone/>
            </a:pPr>
            <a:r>
              <a:rPr lang="en-US" dirty="0"/>
              <a:t>We use </a:t>
            </a:r>
            <a:r>
              <a:rPr lang="en-US" b="1" dirty="0"/>
              <a:t>Long Short-Term Memory</a:t>
            </a:r>
            <a:r>
              <a:rPr lang="en-US" dirty="0"/>
              <a:t> and </a:t>
            </a:r>
            <a:r>
              <a:rPr lang="en-US" b="1" dirty="0"/>
              <a:t>Gated Recurrent Unit</a:t>
            </a:r>
            <a:r>
              <a:rPr lang="en-US" dirty="0"/>
              <a:t> to model </a:t>
            </a:r>
            <a:r>
              <a:rPr lang="en-US" b="1" dirty="0"/>
              <a:t>short-term physiological trends</a:t>
            </a:r>
            <a:r>
              <a:rPr lang="en-US" dirty="0"/>
              <a:t> in patient vitals.</a:t>
            </a:r>
          </a:p>
          <a:p>
            <a:pPr marL="0" indent="0">
              <a:buNone/>
            </a:pPr>
            <a:r>
              <a:rPr lang="en-US" dirty="0"/>
              <a:t>• Learn sequential dependencies in heart rate, BP, and oxygen levels</a:t>
            </a:r>
            <a:br>
              <a:rPr lang="en-US" dirty="0"/>
            </a:br>
            <a:r>
              <a:rPr lang="en-US" dirty="0"/>
              <a:t>• Capture early signals like </a:t>
            </a:r>
            <a:r>
              <a:rPr lang="en-US" b="1" dirty="0"/>
              <a:t>gradual BP drop or rising HR</a:t>
            </a:r>
            <a:br>
              <a:rPr lang="en-US" dirty="0"/>
            </a:br>
            <a:r>
              <a:rPr lang="en-US" dirty="0"/>
              <a:t>• Maintain memory of previous patient states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Transformer Architectures (Long-Term Pattern Detection)</a:t>
            </a:r>
          </a:p>
          <a:p>
            <a:pPr marL="0" indent="0">
              <a:buNone/>
            </a:pPr>
            <a:r>
              <a:rPr lang="en-US" dirty="0"/>
              <a:t>We apply </a:t>
            </a:r>
            <a:r>
              <a:rPr lang="en-US" b="1" dirty="0"/>
              <a:t>Transformer (machine learning architecture)</a:t>
            </a:r>
            <a:r>
              <a:rPr lang="en-US" dirty="0"/>
              <a:t> models to analyze </a:t>
            </a:r>
            <a:r>
              <a:rPr lang="en-US" b="1" dirty="0"/>
              <a:t>long-range relationships across ICU time-series data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Self-attention identifies correlations between multiple vitals</a:t>
            </a:r>
            <a:br>
              <a:rPr lang="en-US" dirty="0"/>
            </a:br>
            <a:r>
              <a:rPr lang="en-US" dirty="0"/>
              <a:t>• Detects subtle long-term deterioration patterns</a:t>
            </a:r>
            <a:br>
              <a:rPr lang="en-US" dirty="0"/>
            </a:br>
            <a:r>
              <a:rPr lang="en-US" dirty="0"/>
              <a:t>• Handles high-dimensional multivariate ICU signals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b="1" dirty="0"/>
              <a:t>State-Space Models (Efficient Sequence Modeling)</a:t>
            </a:r>
          </a:p>
          <a:p>
            <a:pPr marL="0" indent="0">
              <a:buNone/>
            </a:pPr>
            <a:r>
              <a:rPr lang="en-US" dirty="0"/>
              <a:t>Modern sequence models such as </a:t>
            </a:r>
            <a:r>
              <a:rPr lang="en-US" b="1" dirty="0"/>
              <a:t>Mamba (deep learning architecture)</a:t>
            </a:r>
            <a:r>
              <a:rPr lang="en-US" dirty="0"/>
              <a:t> and </a:t>
            </a:r>
            <a:r>
              <a:rPr lang="en-US" b="1" dirty="0"/>
              <a:t>Structured State Space Model (S4)</a:t>
            </a:r>
            <a:r>
              <a:rPr lang="en-US" dirty="0"/>
              <a:t> enable </a:t>
            </a:r>
            <a:r>
              <a:rPr lang="en-US" b="1" dirty="0"/>
              <a:t>efficient processing of long patient timelines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dirty="0"/>
              <a:t>• Scalable for continuous ICU monitoring</a:t>
            </a:r>
            <a:br>
              <a:rPr lang="en-US" dirty="0"/>
            </a:br>
            <a:r>
              <a:rPr lang="en-US" dirty="0"/>
              <a:t>• Maintains stable long-term memory</a:t>
            </a:r>
            <a:br>
              <a:rPr lang="en-US" dirty="0"/>
            </a:br>
            <a:r>
              <a:rPr lang="en-US" dirty="0"/>
              <a:t>• Supports fast inference for real-time hospital deployment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ICU Vitals → Sliding Window → LSTM/GRU → Transformer → Ensemble → Risk Prediction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420938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/>
              <a:t>Model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sz="2000" dirty="0"/>
              <a:t>AUROC to measure prediction accuracy</a:t>
            </a:r>
          </a:p>
          <a:p>
            <a:r>
              <a:rPr sz="2000" dirty="0"/>
              <a:t>Lead-time analysis measuring early warning capability</a:t>
            </a:r>
          </a:p>
          <a:p>
            <a:r>
              <a:rPr sz="2000" dirty="0"/>
              <a:t>False alarm reduction to prevent alarm fatigue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504B9-CA71-3EB8-529C-DE4571DFF3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Sentinel: The Problem &amp; Solution</a:t>
            </a:r>
            <a:br>
              <a:rPr lang="en-US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DE8DE7-41F7-1385-B060-453014C33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007534"/>
            <a:ext cx="8229600" cy="5118630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b="1" dirty="0"/>
              <a:t>The Challenge in Modern Surgery</a:t>
            </a:r>
            <a:endParaRPr lang="en-IN" dirty="0"/>
          </a:p>
          <a:p>
            <a:pPr marL="0" indent="0">
              <a:buNone/>
            </a:pPr>
            <a:r>
              <a:rPr lang="en-IN" b="1" dirty="0"/>
              <a:t>No real-time monitoring</a:t>
            </a:r>
            <a:r>
              <a:rPr lang="en-IN" dirty="0"/>
              <a:t> of patient vitals during surgery</a:t>
            </a:r>
          </a:p>
          <a:p>
            <a:pPr marL="0" indent="0">
              <a:buNone/>
            </a:pPr>
            <a:r>
              <a:rPr lang="en-IN" b="1" dirty="0"/>
              <a:t>No tamper-proof record</a:t>
            </a:r>
            <a:r>
              <a:rPr lang="en-IN" dirty="0"/>
              <a:t> – video evidence can be altered post-op</a:t>
            </a:r>
          </a:p>
          <a:p>
            <a:pPr marL="0" indent="0">
              <a:buNone/>
            </a:pPr>
            <a:r>
              <a:rPr lang="en-IN" b="1" dirty="0"/>
              <a:t>Delayed response</a:t>
            </a:r>
            <a:r>
              <a:rPr lang="en-IN" dirty="0"/>
              <a:t> to critical events (tachycardia, desaturation)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Our Solution: Surgical Black Box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A real-time AI-powered surveillance system that cryptographically seals every frame of surgery with patient vitals.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Key Capabilities:</a:t>
            </a:r>
            <a:endParaRPr lang="en-IN" dirty="0"/>
          </a:p>
          <a:p>
            <a:r>
              <a:rPr lang="en-IN" dirty="0"/>
              <a:t>Real-time vitals simulation (HR, SpO2, BP)</a:t>
            </a:r>
          </a:p>
          <a:p>
            <a:r>
              <a:rPr lang="en-IN" dirty="0"/>
              <a:t>AI-based anomaly detection (motion, HR spikes, SpO2 drops)</a:t>
            </a:r>
          </a:p>
          <a:p>
            <a:r>
              <a:rPr lang="en-IN" dirty="0"/>
              <a:t>SHA-256 hash chaining for tamper-proof evidence</a:t>
            </a:r>
          </a:p>
          <a:p>
            <a:r>
              <a:rPr lang="en-IN" dirty="0"/>
              <a:t>Interactive dashboard for playback &amp; audit</a:t>
            </a:r>
          </a:p>
        </p:txBody>
      </p:sp>
    </p:spTree>
    <p:extLst>
      <p:ext uri="{BB962C8B-B14F-4D97-AF65-F5344CB8AC3E}">
        <p14:creationId xmlns:p14="http://schemas.microsoft.com/office/powerpoint/2010/main" val="1265681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34052-FAC8-A937-534D-67CDCAC840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2B8F0D-937C-7A88-1E65-BD711C86E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b="1" dirty="0"/>
              <a:t>How It Works (3-Step Pipeline)</a:t>
            </a:r>
            <a:endParaRPr lang="en-IN" dirty="0"/>
          </a:p>
          <a:p>
            <a:r>
              <a:rPr lang="en-IN" b="1" dirty="0"/>
              <a:t>Sentinel Engine</a:t>
            </a:r>
            <a:r>
              <a:rPr lang="en-IN" dirty="0"/>
              <a:t> (sentinel_engine.py)</a:t>
            </a:r>
          </a:p>
          <a:p>
            <a:pPr lvl="1"/>
            <a:r>
              <a:rPr lang="en-IN" dirty="0"/>
              <a:t>Processes surgical video frame-by-frame</a:t>
            </a:r>
          </a:p>
          <a:p>
            <a:pPr lvl="1"/>
            <a:r>
              <a:rPr lang="en-IN" dirty="0"/>
              <a:t>Generates synthetic vitals with anomalies</a:t>
            </a:r>
          </a:p>
          <a:p>
            <a:pPr lvl="1"/>
            <a:r>
              <a:rPr lang="en-IN" dirty="0"/>
              <a:t>Detects motion anomalies using frame differencing</a:t>
            </a:r>
          </a:p>
          <a:p>
            <a:pPr lvl="1"/>
            <a:r>
              <a:rPr lang="en-IN" dirty="0"/>
              <a:t>Creates cryptographic hash chain</a:t>
            </a:r>
          </a:p>
          <a:p>
            <a:r>
              <a:rPr lang="en-IN" b="1" dirty="0"/>
              <a:t>Audit Trail Generation</a:t>
            </a:r>
            <a:endParaRPr lang="en-IN" dirty="0"/>
          </a:p>
          <a:p>
            <a:pPr lvl="1"/>
            <a:r>
              <a:rPr lang="en-IN" dirty="0"/>
              <a:t>Each frame + vitals + previous hash → new SHA-256 hash</a:t>
            </a:r>
          </a:p>
          <a:p>
            <a:pPr lvl="1"/>
            <a:r>
              <a:rPr lang="en-IN" dirty="0"/>
              <a:t>Output: </a:t>
            </a:r>
            <a:r>
              <a:rPr lang="en-IN" dirty="0" err="1"/>
              <a:t>telemetry.json</a:t>
            </a:r>
            <a:r>
              <a:rPr lang="en-IN" dirty="0"/>
              <a:t> + </a:t>
            </a:r>
            <a:r>
              <a:rPr lang="en-IN" dirty="0" err="1"/>
              <a:t>audit_trail.json</a:t>
            </a:r>
            <a:endParaRPr lang="en-IN" dirty="0"/>
          </a:p>
          <a:p>
            <a:r>
              <a:rPr lang="en-IN" b="1" dirty="0"/>
              <a:t>Interactive Dashboard</a:t>
            </a:r>
            <a:endParaRPr lang="en-IN" dirty="0"/>
          </a:p>
          <a:p>
            <a:pPr lvl="1"/>
            <a:r>
              <a:rPr lang="en-IN" dirty="0"/>
              <a:t>Real-time video sync with vitals</a:t>
            </a:r>
          </a:p>
          <a:p>
            <a:pPr lvl="1"/>
            <a:r>
              <a:rPr lang="en-IN" dirty="0"/>
              <a:t>Clickable anomaly log for navigation</a:t>
            </a:r>
          </a:p>
          <a:p>
            <a:pPr lvl="1"/>
            <a:r>
              <a:rPr lang="en-IN" dirty="0"/>
              <a:t>One-click integrity verification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452654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B2B70-BAE0-675F-76B9-4234C8D04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IN" b="1" dirty="0"/>
              <a:t>Impact &amp; Future Scope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098834-3486-8602-844F-538578A5EF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b="1" dirty="0"/>
              <a:t>This Matters</a:t>
            </a:r>
          </a:p>
          <a:p>
            <a:pPr marL="0" indent="0">
              <a:buNone/>
            </a:pPr>
            <a:r>
              <a:rPr lang="en-IN" dirty="0"/>
              <a:t>Medico-legal integrity – First tamper-proof surgical record</a:t>
            </a:r>
          </a:p>
          <a:p>
            <a:pPr marL="0" indent="0">
              <a:buNone/>
            </a:pPr>
            <a:r>
              <a:rPr lang="en-IN" dirty="0"/>
              <a:t>Patient safety – Real-time alerts prevent critical events</a:t>
            </a:r>
          </a:p>
          <a:p>
            <a:pPr marL="0" indent="0">
              <a:buNone/>
            </a:pPr>
            <a:r>
              <a:rPr lang="en-IN" dirty="0"/>
              <a:t>Training &amp; research – Annotated replay for analysis</a:t>
            </a:r>
          </a:p>
          <a:p>
            <a:pPr marL="0" indent="0">
              <a:buNone/>
            </a:pPr>
            <a:r>
              <a:rPr lang="en-IN" b="1" dirty="0"/>
              <a:t>Technical Highlights</a:t>
            </a:r>
          </a:p>
          <a:p>
            <a:pPr marL="0" indent="0">
              <a:buNone/>
            </a:pPr>
            <a:r>
              <a:rPr lang="en-IN" dirty="0"/>
              <a:t>🔐 Cryptographic sealing per frame (SHA-256)</a:t>
            </a:r>
          </a:p>
          <a:p>
            <a:pPr marL="0" indent="0">
              <a:buNone/>
            </a:pPr>
            <a:r>
              <a:rPr lang="en-IN" dirty="0"/>
              <a:t>🤖 AI anomaly tagging with debouncing logic</a:t>
            </a:r>
          </a:p>
          <a:p>
            <a:pPr marL="0" indent="0">
              <a:buNone/>
            </a:pPr>
            <a:r>
              <a:rPr lang="en-IN" dirty="0"/>
              <a:t>📊 Real-time browser dashboard (no backend needed)</a:t>
            </a:r>
          </a:p>
          <a:p>
            <a:pPr marL="0" indent="0">
              <a:buNone/>
            </a:pPr>
            <a:r>
              <a:rPr lang="en-IN" dirty="0"/>
              <a:t>✅ Full integrity verification script</a:t>
            </a:r>
          </a:p>
          <a:p>
            <a:pPr marL="0" indent="0">
              <a:buNone/>
            </a:pPr>
            <a:r>
              <a:rPr lang="en-IN" b="1" dirty="0"/>
              <a:t>Future Scope</a:t>
            </a:r>
          </a:p>
          <a:p>
            <a:pPr marL="0" indent="0">
              <a:buNone/>
            </a:pPr>
            <a:r>
              <a:rPr lang="en-IN" dirty="0"/>
              <a:t>Integrate real medical sensors (HR monitors, pulse oximeters)</a:t>
            </a:r>
          </a:p>
          <a:p>
            <a:pPr marL="0" indent="0">
              <a:buNone/>
            </a:pPr>
            <a:r>
              <a:rPr lang="en-IN" dirty="0"/>
              <a:t>Deploy on edge devices in operating rooms</a:t>
            </a:r>
          </a:p>
          <a:p>
            <a:pPr marL="0" indent="0">
              <a:buNone/>
            </a:pPr>
            <a:r>
              <a:rPr lang="en-IN" dirty="0"/>
              <a:t>Blockchain-based distributed audit trail</a:t>
            </a:r>
          </a:p>
          <a:p>
            <a:pPr marL="0" indent="0">
              <a:buNone/>
            </a:pPr>
            <a:r>
              <a:rPr lang="en-IN" dirty="0"/>
              <a:t>ML models for surgical phase detection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219485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4200" b="1"/>
              <a:t>Explainable ICU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rPr sz="2000"/>
              <a:t>Patients ranked by crash probability score</a:t>
            </a:r>
          </a:p>
          <a:p>
            <a:r>
              <a:rPr sz="2000"/>
              <a:t>Risk trajectory visualization over time</a:t>
            </a:r>
          </a:p>
          <a:p>
            <a:r>
              <a:rPr sz="2000"/>
              <a:t>Explainable AI using Temporal SHAP values</a:t>
            </a:r>
          </a:p>
          <a:p>
            <a:r>
              <a:rPr sz="2000"/>
              <a:t>Highlights clinical drivers triggering predictions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915753-B10B-95AB-16F4-947B4E51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98F315-59CA-0FD3-0034-6BB841CCD8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68033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1159</Words>
  <Application>Microsoft Office PowerPoint</Application>
  <PresentationFormat>On-screen Show (4:3)</PresentationFormat>
  <Paragraphs>125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The Problem</vt:lpstr>
      <vt:lpstr>Our Vision</vt:lpstr>
      <vt:lpstr>Solution Overview</vt:lpstr>
      <vt:lpstr>PowerPoint Presentation</vt:lpstr>
      <vt:lpstr>PowerPoint Presentation</vt:lpstr>
      <vt:lpstr>Dataset &amp; Preprocessing Pipeline</vt:lpstr>
      <vt:lpstr>Continue…</vt:lpstr>
      <vt:lpstr>Clinical Events Predicted</vt:lpstr>
      <vt:lpstr>Baseline model</vt:lpstr>
      <vt:lpstr>Deep Learning Models for Temporal ICU Prediction </vt:lpstr>
      <vt:lpstr>Model Evaluation</vt:lpstr>
      <vt:lpstr>Sentinel: The Problem &amp; Solution </vt:lpstr>
      <vt:lpstr>PowerPoint Presentation</vt:lpstr>
      <vt:lpstr>Impact &amp; Future Scope</vt:lpstr>
      <vt:lpstr>Explainable ICU Dashboard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Anjeet Keshari</dc:creator>
  <cp:keywords/>
  <dc:description>generated using python-pptx</dc:description>
  <cp:lastModifiedBy>Vidhyadhar Adasul</cp:lastModifiedBy>
  <cp:revision>4</cp:revision>
  <dcterms:created xsi:type="dcterms:W3CDTF">2013-01-27T09:14:16Z</dcterms:created>
  <dcterms:modified xsi:type="dcterms:W3CDTF">2026-03-19T07:57:16Z</dcterms:modified>
  <cp:category/>
</cp:coreProperties>
</file>